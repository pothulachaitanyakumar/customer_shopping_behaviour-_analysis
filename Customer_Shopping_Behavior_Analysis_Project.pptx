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8" r:id="rId4"/>
    <p:sldId id="269" r:id="rId5"/>
    <p:sldId id="270" r:id="rId6"/>
    <p:sldId id="271" r:id="rId7"/>
    <p:sldId id="273" r:id="rId8"/>
    <p:sldId id="274" r:id="rId9"/>
    <p:sldId id="259" r:id="rId10"/>
    <p:sldId id="275" r:id="rId11"/>
    <p:sldId id="276" r:id="rId12"/>
    <p:sldId id="277" r:id="rId13"/>
    <p:sldId id="280" r:id="rId14"/>
    <p:sldId id="279" r:id="rId15"/>
    <p:sldId id="278" r:id="rId16"/>
    <p:sldId id="281" r:id="rId17"/>
    <p:sldId id="272" r:id="rId18"/>
    <p:sldId id="267" r:id="rId19"/>
  </p:sldIdLst>
  <p:sldSz cx="18288000" cy="10287000"/>
  <p:notesSz cx="6858000" cy="9144000"/>
  <p:embeddedFontLst>
    <p:embeddedFont>
      <p:font typeface="PT Serif" panose="020A0603040505020204" pitchFamily="18" charset="0"/>
      <p:regular r:id="rId20"/>
      <p:bold r:id="rId21"/>
      <p:italic r:id="rId22"/>
      <p:boldItalic r:id="rId23"/>
    </p:embeddedFont>
    <p:embeddedFont>
      <p:font typeface="Roboto Bold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65FDF-119C-4F96-9FEB-145D8976CB27}" v="62" dt="2026-06-12T13:23:05.368"/>
    <p1510:client id="{DE24EF3A-8ACE-4B51-AA72-F8C06301C8BE}" v="1362" dt="2026-06-12T16:11:21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2615" y="5927892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H="1" flipV="1">
            <a:off x="11673891" y="0"/>
            <a:ext cx="6614109" cy="10136038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l="-99999" t="-14295" b="-1429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82616" y="4267263"/>
            <a:ext cx="10584612" cy="1778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800"/>
              </a:lnSpc>
            </a:pPr>
            <a:r>
              <a:rPr lang="en-US" sz="4400" b="1" spc="-480">
                <a:latin typeface="Times New Roman"/>
                <a:ea typeface="Roboto Bold"/>
                <a:cs typeface="Times New Roman"/>
              </a:rPr>
              <a:t>CUSTOMER  SHOPPING  BEHAVIOR  ANALYSIS</a:t>
            </a:r>
            <a:endParaRPr lang="en-US" sz="4400" b="1" spc="-480" dirty="0">
              <a:latin typeface="Times New Roman"/>
              <a:ea typeface="Roboto Bold"/>
              <a:cs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98275" y="6433488"/>
            <a:ext cx="7291769" cy="539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b="1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PRESENTED BY</a:t>
            </a: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:P.CHAITANYA KUMAR</a:t>
            </a:r>
            <a:endParaRPr lang="en-US" sz="3200" spc="-128">
              <a:solidFill>
                <a:srgbClr val="000000">
                  <a:alpha val="69804"/>
                </a:srgbClr>
              </a:solidFill>
              <a:latin typeface="PT Serif"/>
              <a:ea typeface="PT Serif"/>
              <a:cs typeface="PT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78644"/>
            <a:ext cx="18296766" cy="10865644"/>
            <a:chOff x="0" y="-152400"/>
            <a:chExt cx="2910440" cy="28617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748342" y="133883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748342" y="365724"/>
            <a:ext cx="6923762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0ED8DF5-A494-9984-1484-D196BC1C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600" b="1">
                <a:latin typeface="Times New Roman"/>
                <a:ea typeface="Calibri"/>
                <a:cs typeface="Times New Roman"/>
              </a:rPr>
              <a:t>PROJECT OVERVIEW</a:t>
            </a:r>
            <a:endParaRPr lang="en-US" sz="4600" b="1">
              <a:latin typeface="Times New Roman"/>
              <a:cs typeface="Times New Roman"/>
            </a:endParaRP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40692EA6-C566-2448-69DD-D25C9E15FB8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0905" y="1600200"/>
            <a:ext cx="16833850" cy="79327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 The </a:t>
            </a:r>
            <a:r>
              <a:rPr lang="en-US" sz="3300" b="1" dirty="0">
                <a:latin typeface="Times New Roman"/>
                <a:ea typeface="+mn-lt"/>
                <a:cs typeface="Times New Roman"/>
              </a:rPr>
              <a:t>Customer Shopping </a:t>
            </a:r>
            <a:r>
              <a:rPr lang="en-US" sz="3300" b="1" dirty="0" err="1">
                <a:latin typeface="Times New Roman"/>
                <a:ea typeface="+mn-lt"/>
                <a:cs typeface="Times New Roman"/>
              </a:rPr>
              <a:t>Behaviour</a:t>
            </a:r>
            <a:r>
              <a:rPr lang="en-US" sz="3300" b="1" dirty="0">
                <a:latin typeface="Times New Roman"/>
                <a:ea typeface="+mn-lt"/>
                <a:cs typeface="Times New Roman"/>
              </a:rPr>
              <a:t> Analysis</a:t>
            </a:r>
            <a:r>
              <a:rPr lang="en-US" sz="3300" dirty="0">
                <a:latin typeface="Times New Roman"/>
                <a:ea typeface="+mn-lt"/>
                <a:cs typeface="Times New Roman"/>
              </a:rPr>
              <a:t> project focuses on analyzing customer</a:t>
            </a:r>
          </a:p>
          <a:p>
            <a:pPr>
              <a:buNone/>
            </a:pPr>
            <a:r>
              <a:rPr lang="en-US" sz="3300">
                <a:latin typeface="Times New Roman"/>
                <a:ea typeface="+mn-lt"/>
                <a:cs typeface="Times New Roman"/>
              </a:rPr>
              <a:t>purchasing patterns, preferences, and spending habits using data analytics techniques. The project</a:t>
            </a:r>
            <a:endParaRPr lang="en-US" sz="3300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involves data cleaning, exploratory data analysis (EDA), SQL-based data querying, and </a:t>
            </a:r>
            <a:r>
              <a:rPr lang="en-US" sz="3300">
                <a:latin typeface="Times New Roman"/>
                <a:ea typeface="+mn-lt"/>
                <a:cs typeface="Times New Roman"/>
              </a:rPr>
              <a:t>interactive</a:t>
            </a:r>
          </a:p>
          <a:p>
            <a:pPr>
              <a:buNone/>
            </a:pPr>
            <a:r>
              <a:rPr lang="en-US" sz="3300">
                <a:latin typeface="Times New Roman"/>
                <a:ea typeface="+mn-lt"/>
                <a:cs typeface="Times New Roman"/>
              </a:rPr>
              <a:t>Dashboard creation to uncover meaningful business insights.</a:t>
            </a:r>
            <a:endParaRPr lang="en-US" sz="3300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 Using </a:t>
            </a:r>
            <a:r>
              <a:rPr lang="en-US" sz="3300" b="1" dirty="0">
                <a:latin typeface="Times New Roman"/>
                <a:ea typeface="+mn-lt"/>
                <a:cs typeface="Times New Roman"/>
              </a:rPr>
              <a:t>Python (Pandas, NumPy, Matplotlib, Seaborn)</a:t>
            </a:r>
            <a:r>
              <a:rPr lang="en-US" sz="3300">
                <a:latin typeface="Times New Roman"/>
                <a:ea typeface="+mn-lt"/>
                <a:cs typeface="Times New Roman"/>
              </a:rPr>
              <a:t>, the dataset was cleaned and analyzed</a:t>
            </a:r>
            <a:endParaRPr lang="en-US" sz="3300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to identify trends in customer demographics, product categories, purchase amounts, subscription</a:t>
            </a:r>
          </a:p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status, payment methods, and seasonal shopping behavior. </a:t>
            </a:r>
            <a:r>
              <a:rPr lang="en-US" sz="3300" b="1" dirty="0">
                <a:latin typeface="Times New Roman"/>
                <a:ea typeface="+mn-lt"/>
                <a:cs typeface="Times New Roman"/>
              </a:rPr>
              <a:t>MySQL</a:t>
            </a:r>
            <a:r>
              <a:rPr lang="en-US" sz="3300">
                <a:latin typeface="Times New Roman"/>
                <a:ea typeface="+mn-lt"/>
                <a:cs typeface="Times New Roman"/>
              </a:rPr>
              <a:t> was used to perform data</a:t>
            </a:r>
            <a:endParaRPr lang="en-US" sz="3300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extraction and business-driven queries, while </a:t>
            </a:r>
            <a:r>
              <a:rPr lang="en-US" sz="3300" b="1" dirty="0">
                <a:latin typeface="Times New Roman"/>
                <a:ea typeface="+mn-lt"/>
                <a:cs typeface="Times New Roman"/>
              </a:rPr>
              <a:t>Power BI</a:t>
            </a:r>
            <a:r>
              <a:rPr lang="en-US" sz="3300" dirty="0">
                <a:latin typeface="Times New Roman"/>
                <a:ea typeface="+mn-lt"/>
                <a:cs typeface="Times New Roman"/>
              </a:rPr>
              <a:t> was utilized to create an interactive</a:t>
            </a:r>
          </a:p>
          <a:p>
            <a:pPr>
              <a:buNone/>
            </a:pPr>
            <a:r>
              <a:rPr lang="en-US" sz="3300">
                <a:latin typeface="Times New Roman"/>
                <a:ea typeface="+mn-lt"/>
                <a:cs typeface="Times New Roman"/>
              </a:rPr>
              <a:t>dashboard for visualizing key performance indicators and customer insights.</a:t>
            </a:r>
            <a:endParaRPr lang="en-US" sz="3300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 The main objective of this project is to help businesses understand customer behavior, improve</a:t>
            </a:r>
          </a:p>
          <a:p>
            <a:pPr>
              <a:buNone/>
            </a:pPr>
            <a:r>
              <a:rPr lang="en-US" sz="3300" dirty="0">
                <a:latin typeface="Times New Roman"/>
                <a:ea typeface="+mn-lt"/>
                <a:cs typeface="Times New Roman"/>
              </a:rPr>
              <a:t>decision-making, optimize marketing strategies, and enhance customer engagement through data</a:t>
            </a:r>
          </a:p>
          <a:p>
            <a:pPr>
              <a:buNone/>
            </a:pPr>
            <a:r>
              <a:rPr lang="en-US" sz="3300">
                <a:latin typeface="Times New Roman"/>
                <a:ea typeface="+mn-lt"/>
                <a:cs typeface="Times New Roman"/>
              </a:rPr>
              <a:t>driven</a:t>
            </a:r>
            <a:r>
              <a:rPr lang="en-US" sz="3300" dirty="0">
                <a:latin typeface="Times New Roman"/>
                <a:ea typeface="+mn-lt"/>
                <a:cs typeface="Times New Roman"/>
              </a:rPr>
              <a:t> insights.</a:t>
            </a:r>
            <a:endParaRPr lang="en-US" sz="33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sz="33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B2241-03E7-881D-45F1-0E2BCF1A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625F94-D12B-972C-2DC1-1127734D680F}"/>
              </a:ext>
            </a:extLst>
          </p:cNvPr>
          <p:cNvGrpSpPr/>
          <p:nvPr/>
        </p:nvGrpSpPr>
        <p:grpSpPr>
          <a:xfrm>
            <a:off x="0" y="0"/>
            <a:ext cx="18296766" cy="10287000"/>
            <a:chOff x="0" y="0"/>
            <a:chExt cx="291044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917A62-9A5A-3F8D-ED98-67BB5BFE7BB5}"/>
                </a:ext>
              </a:extLst>
            </p:cNvPr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45DBF7A-904C-FA9E-1EE6-939019DBB2CA}"/>
                </a:ext>
              </a:extLst>
            </p:cNvPr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20DC2ECF-D145-4979-EBDC-1879945996AA}"/>
              </a:ext>
            </a:extLst>
          </p:cNvPr>
          <p:cNvSpPr/>
          <p:nvPr/>
        </p:nvSpPr>
        <p:spPr>
          <a:xfrm>
            <a:off x="748342" y="133883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E7F251-23EE-74BF-73F0-E714413D035B}"/>
              </a:ext>
            </a:extLst>
          </p:cNvPr>
          <p:cNvSpPr txBox="1"/>
          <p:nvPr/>
        </p:nvSpPr>
        <p:spPr>
          <a:xfrm>
            <a:off x="748342" y="365724"/>
            <a:ext cx="6923762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4AF51A-4852-4AFF-A09C-D2DFEAFC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latin typeface="Times New Roman"/>
                <a:ea typeface="Calibri"/>
                <a:cs typeface="Times New Roman"/>
              </a:rPr>
              <a:t>OBJECTIVES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CEFE95-402A-F4E7-FA73-CF42D4A2B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59" y="1600200"/>
            <a:ext cx="16791316" cy="83000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This project aims to analyze customer shopping behavior and purchasing patterns to gain a deeper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understanding of customer preferences and spending habits. By examining demographic information,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product categories, purchase amounts, subscription status, payment methods, and seasonal trends, </a:t>
            </a:r>
            <a:r>
              <a:rPr lang="en-US">
                <a:latin typeface="Times New Roman"/>
                <a:ea typeface="+mn-lt"/>
                <a:cs typeface="Times New Roman"/>
              </a:rPr>
              <a:t>the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project seeks to identify key factors influencing customer buying decisions. The analysis helps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uncover valuable business insights, improve customer engagement, optimize marketing strategies,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and support data-driven decision-making. Additionally, interactive visualizations and dashboards </a:t>
            </a:r>
            <a:r>
              <a:rPr lang="en-US">
                <a:latin typeface="Times New Roman"/>
                <a:ea typeface="+mn-lt"/>
                <a:cs typeface="Times New Roman"/>
              </a:rPr>
              <a:t>are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developed to effectively communicate findings and assist businesses in enhancing overall sales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performance and customer satisfaction.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166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AF33D-7D91-32BE-FF43-1EAD9AC1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439D9B-C254-B81D-96D5-5B1CCB25910E}"/>
              </a:ext>
            </a:extLst>
          </p:cNvPr>
          <p:cNvGrpSpPr/>
          <p:nvPr/>
        </p:nvGrpSpPr>
        <p:grpSpPr>
          <a:xfrm>
            <a:off x="0" y="172528"/>
            <a:ext cx="18296766" cy="10114472"/>
            <a:chOff x="0" y="0"/>
            <a:chExt cx="291044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32177A-5A6A-18B7-9CBF-FD45B998947D}"/>
                </a:ext>
              </a:extLst>
            </p:cNvPr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ED4E84-2205-82A5-732F-E8A594773621}"/>
                </a:ext>
              </a:extLst>
            </p:cNvPr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C56AB63-8208-521F-C333-3DC371ECF56B}"/>
              </a:ext>
            </a:extLst>
          </p:cNvPr>
          <p:cNvSpPr/>
          <p:nvPr/>
        </p:nvSpPr>
        <p:spPr>
          <a:xfrm>
            <a:off x="748342" y="133883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C66F91B-4511-B8EE-8EE9-9857CC6CF054}"/>
              </a:ext>
            </a:extLst>
          </p:cNvPr>
          <p:cNvSpPr txBox="1"/>
          <p:nvPr/>
        </p:nvSpPr>
        <p:spPr>
          <a:xfrm>
            <a:off x="748342" y="365724"/>
            <a:ext cx="6923762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48D20AC-3867-9866-7AB7-02195D44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124" y="360902"/>
            <a:ext cx="7927676" cy="1078302"/>
          </a:xfrm>
        </p:spPr>
        <p:txBody>
          <a:bodyPr/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DATASET SUMMARY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6922AF-5386-65AB-7489-121737D9D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24" y="1600200"/>
            <a:ext cx="16705053" cy="840784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The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Customer Shopping </a:t>
            </a:r>
            <a:r>
              <a:rPr lang="en-US" b="1" dirty="0" err="1">
                <a:latin typeface="Times New Roman"/>
                <a:ea typeface="+mn-lt"/>
                <a:cs typeface="Times New Roman"/>
              </a:rPr>
              <a:t>Behaviour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 Dataset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contains customer transaction and demographic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information used to analyze purchasing patterns, spending behavior, and customer preferences. The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dataset includes details such as age, gender, product category, purchase amount, payment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methods, subscription status, and customer reviews.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b="1">
                <a:latin typeface="Times New Roman"/>
                <a:cs typeface="Times New Roman"/>
              </a:rPr>
              <a:t>Dataset Overview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Total Records:</a:t>
            </a:r>
            <a:r>
              <a:rPr lang="en-US">
                <a:latin typeface="Times New Roman"/>
                <a:ea typeface="+mn-lt"/>
                <a:cs typeface="Times New Roman"/>
              </a:rPr>
              <a:t> 3,900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Total Features:</a:t>
            </a:r>
            <a:r>
              <a:rPr lang="en-US">
                <a:latin typeface="Times New Roman"/>
                <a:ea typeface="+mn-lt"/>
                <a:cs typeface="Times New Roman"/>
              </a:rPr>
              <a:t> 18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Data Type:</a:t>
            </a:r>
            <a:r>
              <a:rPr lang="en-US">
                <a:latin typeface="Times New Roman"/>
                <a:ea typeface="+mn-lt"/>
                <a:cs typeface="Times New Roman"/>
              </a:rPr>
              <a:t> Structured Data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Format:</a:t>
            </a:r>
            <a:r>
              <a:rPr lang="en-US">
                <a:latin typeface="Times New Roman"/>
                <a:ea typeface="+mn-lt"/>
                <a:cs typeface="Times New Roman"/>
              </a:rPr>
              <a:t> CSV Dataset </a:t>
            </a:r>
            <a:endParaRPr lang="en-US" b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Key Features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Customer Demographics (Age, Gender, Location)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Product Information (Item Purchased, Category, Size, Color)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Transaction Details (Purchase Amount, Payment Method)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Customer Engagement (Subscription Status, Review Rating)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Shopping Trends (Season, Purchase Frequency, Previous Purchases)</a:t>
            </a:r>
            <a:endParaRPr lang="en-US">
              <a:latin typeface="Times New Roman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15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C886E-F57E-712C-E5C3-64972498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24E1BE-5D19-5882-6A68-5178C8FF30B8}"/>
              </a:ext>
            </a:extLst>
          </p:cNvPr>
          <p:cNvGrpSpPr/>
          <p:nvPr/>
        </p:nvGrpSpPr>
        <p:grpSpPr>
          <a:xfrm>
            <a:off x="0" y="0"/>
            <a:ext cx="18296766" cy="10287000"/>
            <a:chOff x="0" y="0"/>
            <a:chExt cx="291044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9BA40D-5AA5-E791-6395-697ECA25DF6A}"/>
                </a:ext>
              </a:extLst>
            </p:cNvPr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5AA2792-1F4D-F643-E356-919B747D704F}"/>
                </a:ext>
              </a:extLst>
            </p:cNvPr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70BB395-07FA-CFE0-A3CA-4DC61B96291A}"/>
              </a:ext>
            </a:extLst>
          </p:cNvPr>
          <p:cNvSpPr/>
          <p:nvPr/>
        </p:nvSpPr>
        <p:spPr>
          <a:xfrm>
            <a:off x="748342" y="133883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76FD89-1DD2-7E7F-1A4C-C8023B0C7205}"/>
              </a:ext>
            </a:extLst>
          </p:cNvPr>
          <p:cNvSpPr txBox="1"/>
          <p:nvPr/>
        </p:nvSpPr>
        <p:spPr>
          <a:xfrm>
            <a:off x="748342" y="365724"/>
            <a:ext cx="6923762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7CAD38-EE90-54F9-4E25-4A1FF755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125" y="188374"/>
            <a:ext cx="9825486" cy="1143000"/>
          </a:xfrm>
        </p:spPr>
        <p:txBody>
          <a:bodyPr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UNDERSTANDING THE DATASET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1658662A-04EE-99D8-41E0-AAEE6312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25" y="1621766"/>
            <a:ext cx="16769750" cy="801966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3400">
                <a:latin typeface="Times New Roman"/>
                <a:ea typeface="+mn-lt"/>
                <a:cs typeface="Times New Roman"/>
              </a:rPr>
              <a:t>Before performing the analysis, it is important to understand the structure and contents of the</a:t>
            </a:r>
            <a:endParaRPr lang="en-US" sz="3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3400" dirty="0">
                <a:latin typeface="Times New Roman"/>
                <a:ea typeface="+mn-lt"/>
                <a:cs typeface="Times New Roman"/>
              </a:rPr>
              <a:t>dataset. The Customer Shopping </a:t>
            </a:r>
            <a:r>
              <a:rPr lang="en-US" sz="3400" dirty="0" err="1">
                <a:latin typeface="Times New Roman"/>
                <a:ea typeface="+mn-lt"/>
                <a:cs typeface="Times New Roman"/>
              </a:rPr>
              <a:t>Behaviour</a:t>
            </a:r>
            <a:r>
              <a:rPr lang="en-US" sz="3400" dirty="0">
                <a:latin typeface="Times New Roman"/>
                <a:ea typeface="+mn-lt"/>
                <a:cs typeface="Times New Roman"/>
              </a:rPr>
              <a:t> dataset contains customer demographic</a:t>
            </a:r>
          </a:p>
          <a:p>
            <a:pPr>
              <a:buNone/>
            </a:pPr>
            <a:r>
              <a:rPr lang="en-US" sz="3400">
                <a:latin typeface="Times New Roman"/>
                <a:ea typeface="+mn-lt"/>
                <a:cs typeface="Times New Roman"/>
              </a:rPr>
              <a:t>information, purchase details, product preferences, and transaction-related attributes. Each</a:t>
            </a:r>
            <a:endParaRPr lang="en-US">
              <a:latin typeface="Calibri"/>
              <a:ea typeface="+mn-lt"/>
              <a:cs typeface="Calibri"/>
            </a:endParaRPr>
          </a:p>
          <a:p>
            <a:pPr>
              <a:buNone/>
            </a:pPr>
            <a:r>
              <a:rPr lang="en-US" sz="3400" dirty="0">
                <a:latin typeface="Times New Roman"/>
                <a:ea typeface="+mn-lt"/>
                <a:cs typeface="Times New Roman"/>
              </a:rPr>
              <a:t>record represents a customer's shopping activity and provides valuable information for</a:t>
            </a:r>
          </a:p>
          <a:p>
            <a:pPr>
              <a:buNone/>
            </a:pPr>
            <a:r>
              <a:rPr lang="en-US" sz="3400">
                <a:latin typeface="Times New Roman"/>
                <a:ea typeface="+mn-lt"/>
                <a:cs typeface="Times New Roman"/>
              </a:rPr>
              <a:t>analyzing purchasing patterns and consumer behavior.</a:t>
            </a:r>
            <a:endParaRPr lang="en-US" sz="3400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sz="3400">
                <a:latin typeface="Times New Roman"/>
                <a:ea typeface="+mn-lt"/>
                <a:cs typeface="Times New Roman"/>
              </a:rPr>
              <a:t>The dataset includes both numerical and categorical variables such as age, gender, purchase</a:t>
            </a:r>
            <a:endParaRPr lang="en-US" sz="3400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3400">
                <a:latin typeface="Times New Roman"/>
                <a:ea typeface="+mn-lt"/>
                <a:cs typeface="Times New Roman"/>
              </a:rPr>
              <a:t>amount, product category, payment method, subscription status, review rating, and purchase</a:t>
            </a:r>
            <a:endParaRPr lang="en-US" sz="3400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3400" dirty="0">
                <a:latin typeface="Times New Roman"/>
                <a:ea typeface="+mn-lt"/>
                <a:cs typeface="Times New Roman"/>
              </a:rPr>
              <a:t>frequency. Understanding these variables helps identify relationships between customer</a:t>
            </a:r>
          </a:p>
          <a:p>
            <a:pPr>
              <a:buNone/>
            </a:pPr>
            <a:r>
              <a:rPr lang="en-US" sz="3400">
                <a:latin typeface="Times New Roman"/>
                <a:ea typeface="+mn-lt"/>
                <a:cs typeface="Times New Roman"/>
              </a:rPr>
              <a:t>characteristics and buying behavior. This step enables effective data cleaning, exploratory</a:t>
            </a:r>
            <a:endParaRPr lang="en-US" sz="3400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3400" dirty="0" err="1">
                <a:latin typeface="Times New Roman"/>
                <a:ea typeface="+mn-lt"/>
                <a:cs typeface="Times New Roman"/>
              </a:rPr>
              <a:t>analysis,and</a:t>
            </a:r>
            <a:r>
              <a:rPr lang="en-US" sz="3400" dirty="0">
                <a:latin typeface="Times New Roman"/>
                <a:ea typeface="+mn-lt"/>
                <a:cs typeface="Times New Roman"/>
              </a:rPr>
              <a:t> visualization, ensuring accurate insights and meaningful business</a:t>
            </a:r>
          </a:p>
          <a:p>
            <a:pPr>
              <a:buNone/>
            </a:pPr>
            <a:r>
              <a:rPr lang="en-US" sz="3400">
                <a:latin typeface="Times New Roman"/>
                <a:ea typeface="+mn-lt"/>
                <a:cs typeface="Times New Roman"/>
              </a:rPr>
              <a:t>recommendations.</a:t>
            </a:r>
            <a:endParaRPr lang="en-US" sz="34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sz="34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040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444FC-F2B8-1108-ACC2-68E4972C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16B4AC-5D36-DE5D-2206-FEC364876B88}"/>
              </a:ext>
            </a:extLst>
          </p:cNvPr>
          <p:cNvGrpSpPr/>
          <p:nvPr/>
        </p:nvGrpSpPr>
        <p:grpSpPr>
          <a:xfrm>
            <a:off x="0" y="0"/>
            <a:ext cx="18296766" cy="10287000"/>
            <a:chOff x="0" y="0"/>
            <a:chExt cx="291044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77D1B5-A356-D7D6-776A-AC897070059E}"/>
                </a:ext>
              </a:extLst>
            </p:cNvPr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E64163D-6C73-89A3-0EE8-D7995CBA3040}"/>
                </a:ext>
              </a:extLst>
            </p:cNvPr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D2DD38EB-3E44-EABD-7A1D-1B29150C9317}"/>
              </a:ext>
            </a:extLst>
          </p:cNvPr>
          <p:cNvSpPr/>
          <p:nvPr/>
        </p:nvSpPr>
        <p:spPr>
          <a:xfrm>
            <a:off x="748342" y="133883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ABDF5C-A74F-D8B6-5EA9-EB58067B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019581" cy="1164566"/>
          </a:xfrm>
        </p:spPr>
        <p:txBody>
          <a:bodyPr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UNDERSTANDING THE DATASET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C6C6044-BB19-935F-4EA9-C431A74129C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056736" y="1718993"/>
            <a:ext cx="5667375" cy="7286625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F98A783-C210-F47A-F095-FDEF0E6E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037" y="2569233"/>
            <a:ext cx="9069417" cy="430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5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6E4F9-BF1F-A20D-7295-A0121ADB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EA71D7E-7ECA-7135-B704-218E9E6B5AAD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AEFC3E2-1F07-A6A3-D0A4-B2264C99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DATA CLEANING AND PROCESSING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B7C1269-7868-E840-0EF0-8E94665C6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917" y="1600200"/>
            <a:ext cx="16230600" cy="84078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Data cleaning and preprocessing were performed to ensure the dataset was accurate, consistent,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and ready for analysis. The dataset was thoroughly examined for missing values, duplicate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records, incorrect data types, and inconsistencies. Necessary transformations were applied to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improve data quality and reliability.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b="1">
                <a:latin typeface="Times New Roman"/>
                <a:cs typeface="Times New Roman"/>
              </a:rPr>
              <a:t>Steps Performed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Imported the dataset into Python using Pandas.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Checked the dataset structure, data types, and summary statistics.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Identified and handled missing or null values.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Verified and removed duplicate records.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Standardized categorical variables for consistency.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Validated numerical columns and corrected data formatting issues.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Checked for outliers and data inconsistencies.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Converted data into an analysis-ready format.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Prepared the cleaned dataset for EDA, SQL analysis, and Power BI visualization.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07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08913-F613-23CF-CEB3-E8EA1817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5C7BB7E-A1D3-9601-A51A-09B41ABB9E9B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A5B67B2-A12B-6B3D-2C29-C393A950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DATA CLEANING AND PROCESSING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6F3700-0252-4A2E-72B0-67D1318C2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613" y="1982802"/>
            <a:ext cx="5593150" cy="6930964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64D8CCC-01A7-C199-1563-28788653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877" y="1848838"/>
            <a:ext cx="6666960" cy="4756210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EF01F3F-2CE2-DE84-18C8-79F14430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519" y="7052364"/>
            <a:ext cx="8709624" cy="263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5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619196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538252"/>
            <a:ext cx="6923762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Times New Roman"/>
                <a:ea typeface="Roboto Bold"/>
                <a:cs typeface="Times New Roman"/>
              </a:rPr>
              <a:t>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B6F6BA-A670-BC18-F922-056FB6FC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44" y="1736156"/>
            <a:ext cx="16223949" cy="80223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A5E3E-6F64-8FF0-6DC5-F64A8C87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FA03E12-7C51-50DB-B3ED-94E93155AD36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7F49762-8D3D-82C8-D590-1ABDCEFE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DATA  ANALYSIS USING MYSQL</a:t>
            </a:r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CDB833C-F8F1-CA9E-BE07-B8804E1D7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917" y="1492370"/>
            <a:ext cx="16230600" cy="769617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MySQL was used to perform business transaction analysis on the customer shopping dataset. SQL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queries were written to extract, filter, aggregate, and analyze transaction data to uncover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meaningful business insights. The analysis focused on customer purchasing behavior, sales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performance, product category trends, subscription patterns, and payment preferences.</a:t>
            </a:r>
            <a:endParaRPr lang="en-US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By utilizing SQL operations such as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SELECT, </a:t>
            </a:r>
            <a:r>
              <a:rPr lang="en-US" b="1" dirty="0" err="1">
                <a:latin typeface="Times New Roman"/>
                <a:ea typeface="+mn-lt"/>
                <a:cs typeface="Times New Roman"/>
              </a:rPr>
              <a:t>WHERE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, GROUP BY, ORDER BY, COUNT,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SUM, AVG, and Aggregate Functions</a:t>
            </a:r>
            <a:r>
              <a:rPr lang="en-US">
                <a:latin typeface="Times New Roman"/>
                <a:ea typeface="+mn-lt"/>
                <a:cs typeface="Times New Roman"/>
              </a:rPr>
              <a:t>, the dataset was transformed into valuable business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information. This analysis helped identify top-performing product categories, customer spending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patterns, preferred payment methods, and the impact of subscription status on </a:t>
            </a:r>
            <a:r>
              <a:rPr lang="en-US">
                <a:latin typeface="Times New Roman"/>
                <a:ea typeface="+mn-lt"/>
                <a:cs typeface="Times New Roman"/>
              </a:rPr>
              <a:t>purchasing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behavior.</a:t>
            </a:r>
            <a:endParaRPr lang="en-US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The insights generated through MySQL analysis provided a strong foundation for data-driven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decision-making and supported the creation of interactive Power BI dashboards for business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reporting and visualization.</a:t>
            </a:r>
            <a:endParaRPr lang="en-US">
              <a:latin typeface="Times New Roman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734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17761-D131-7DCA-4785-06E54E1E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2467DC0-7D1C-DFA3-6BBA-DFBA16FF2080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931F315-4FA1-445A-24DF-D3AB8E04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DATA ANALYSIS USING MYSQL</a:t>
            </a:r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1152102-58F8-E518-D5DD-7811837E0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917" y="1600200"/>
            <a:ext cx="16230600" cy="84078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latin typeface="Times New Roman"/>
                <a:ea typeface="Calibri"/>
                <a:cs typeface="Times New Roman"/>
              </a:rPr>
              <a:t>REVENUE BY GENDER</a:t>
            </a:r>
            <a:r>
              <a:rPr lang="en-US" dirty="0">
                <a:latin typeface="Times New Roman"/>
                <a:ea typeface="Calibri"/>
                <a:cs typeface="Times New Roman"/>
              </a:rPr>
              <a:t>-Compared total revenue </a:t>
            </a:r>
            <a:r>
              <a:rPr lang="en-US">
                <a:latin typeface="Times New Roman"/>
                <a:ea typeface="Calibri"/>
                <a:cs typeface="Times New Roman"/>
              </a:rPr>
              <a:t>generated by male vs female customers</a:t>
            </a: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b="1" dirty="0">
                <a:latin typeface="Times New Roman"/>
                <a:ea typeface="Calibri"/>
                <a:cs typeface="Times New Roman"/>
              </a:rPr>
              <a:t>Shipping type comparisons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-Compared average purchase amounts between standar</a:t>
            </a:r>
            <a:r>
              <a:rPr lang="en-US">
                <a:latin typeface="Times New Roman"/>
                <a:ea typeface="Calibri"/>
                <a:cs typeface="Times New Roman"/>
              </a:rPr>
              <a:t>d and express shipping</a:t>
            </a:r>
            <a:endParaRPr lang="en-US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BE73B0-C154-8969-5C92-4C0E0274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426" y="2279792"/>
            <a:ext cx="5306323" cy="260661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642CEF-AC8B-C014-84B2-F86D04D53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540" y="7172595"/>
            <a:ext cx="8664335" cy="187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FBA43-0763-1B7A-23DB-BA7FCEC99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4FE1297-A599-15F9-DCD3-04B4A1C6D859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EFEEA0-94ED-9A4C-3725-B945BA92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DATA ANALYSIS USING MYSQL</a:t>
            </a:r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E1C988D-4D29-4A5D-14F4-5790AD5E9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917" y="1600200"/>
            <a:ext cx="16230600" cy="84078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Times New Roman"/>
                <a:ea typeface="Calibri"/>
                <a:cs typeface="Times New Roman"/>
              </a:rPr>
              <a:t>High-Spending Discount Users-</a:t>
            </a:r>
            <a:r>
              <a:rPr lang="en-US">
                <a:latin typeface="Times New Roman"/>
                <a:ea typeface="Calibri"/>
                <a:cs typeface="Times New Roman"/>
              </a:rPr>
              <a:t>Identified customers who used discounts but still spent above the average purchase amount</a:t>
            </a: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b="1">
                <a:latin typeface="Times New Roman"/>
                <a:ea typeface="Calibri"/>
                <a:cs typeface="Times New Roman"/>
              </a:rPr>
              <a:t>Top 5 Products by Rating</a:t>
            </a:r>
            <a:r>
              <a:rPr lang="en-US">
                <a:latin typeface="Times New Roman"/>
                <a:ea typeface="Calibri"/>
                <a:cs typeface="Times New Roman"/>
              </a:rPr>
              <a:t>-Found p</a:t>
            </a:r>
            <a:r>
              <a:rPr lang="en-US" dirty="0">
                <a:latin typeface="Times New Roman"/>
                <a:ea typeface="Calibri"/>
                <a:cs typeface="Times New Roman"/>
              </a:rPr>
              <a:t>roducts with the highest average review ratings </a:t>
            </a:r>
          </a:p>
        </p:txBody>
      </p: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4EC7841D-89D1-EF6E-86A9-53CF71245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378" y="2579748"/>
            <a:ext cx="4340884" cy="3078731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1C6476A-5BAC-5E69-E445-EEA91448D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823" y="6924312"/>
            <a:ext cx="5370122" cy="237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3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10FE3-2E34-FAA5-30A2-0A7B86A3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2B9E43A-8D65-4D81-D558-DE443EFD0A2C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1842A2A-35C9-487B-D5FE-29EA53B5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DATA ANALYSIS USING MYSQL</a:t>
            </a:r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7011C8F-E005-0590-3247-274066F36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917" y="1600200"/>
            <a:ext cx="16230600" cy="84078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Times New Roman"/>
                <a:ea typeface="Calibri"/>
                <a:cs typeface="Times New Roman"/>
              </a:rPr>
              <a:t>Top 3 Products per Category</a:t>
            </a:r>
            <a:r>
              <a:rPr lang="en-US">
                <a:latin typeface="Times New Roman"/>
                <a:ea typeface="Calibri"/>
                <a:cs typeface="Times New Roman"/>
              </a:rPr>
              <a:t>-Listed the most purchased produ</a:t>
            </a:r>
            <a:r>
              <a:rPr lang="en-US" dirty="0">
                <a:latin typeface="Times New Roman"/>
                <a:ea typeface="Calibri"/>
                <a:cs typeface="Times New Roman"/>
              </a:rPr>
              <a:t>cts within each category</a:t>
            </a: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b="1">
                <a:latin typeface="Times New Roman"/>
                <a:ea typeface="Calibri"/>
                <a:cs typeface="Times New Roman"/>
              </a:rPr>
              <a:t>Repeat Buyers &amp; Subscriptions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-Checked whether customers with &gt;5 purchases are more likely to subscribe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7757CB-7773-BCEC-5F9E-71D01EFF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07" y="2218158"/>
            <a:ext cx="7280874" cy="332745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B7C3A0-A4BE-8B9C-E07D-F80D5A989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059" y="7155522"/>
            <a:ext cx="7668523" cy="173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94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5E7C8-78B5-9B2B-3853-2DF94005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69DFB2B-CF3F-F791-9738-C7DD9ADB71E2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B7ED715-CA66-E994-3299-C4B4C1C0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POWER BI DASHBOARD</a:t>
            </a:r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F14559-820C-E238-821F-A0690958A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7" y="1492370"/>
            <a:ext cx="16920712" cy="851567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The Power BI dashboard provides an interactive and comprehensive view of customer shopping behavior,</a:t>
            </a:r>
            <a:endParaRPr lang="en-US">
              <a:latin typeface="Calibri"/>
              <a:ea typeface="+mn-lt"/>
              <a:cs typeface="Calibri"/>
            </a:endParaRPr>
          </a:p>
          <a:p>
            <a:pPr>
              <a:buNone/>
            </a:pPr>
            <a:r>
              <a:rPr lang="en-US" dirty="0" err="1">
                <a:latin typeface="Times New Roman"/>
                <a:ea typeface="+mn-lt"/>
                <a:cs typeface="Times New Roman"/>
              </a:rPr>
              <a:t>sales performance, and</a:t>
            </a:r>
            <a:r>
              <a:rPr lang="en-US" dirty="0">
                <a:latin typeface="Times New Roman"/>
                <a:ea typeface="+mn-lt"/>
                <a:cs typeface="Times New Roman"/>
              </a:rPr>
              <a:t> purchasing trends. It combines key business metrics, visualizations, and filters to</a:t>
            </a:r>
            <a:endParaRPr lang="en-US" dirty="0">
              <a:latin typeface="Calibri"/>
              <a:ea typeface="+mn-lt"/>
              <a:cs typeface="Calibri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help users analyze customer preferences and make data-driven decisions. The </a:t>
            </a:r>
            <a:r>
              <a:rPr lang="en-US">
                <a:latin typeface="Times New Roman"/>
                <a:ea typeface="+mn-lt"/>
                <a:cs typeface="Times New Roman"/>
              </a:rPr>
              <a:t>dashboard enables </a:t>
            </a:r>
            <a:endParaRPr lang="en-US">
              <a:latin typeface="Calibri"/>
              <a:ea typeface="+mn-lt"/>
              <a:cs typeface="Calibri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stakeholders to monitor revenue, customer demographics, product category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performance,subscription</a:t>
            </a:r>
            <a:r>
              <a:rPr lang="en-US" dirty="0">
                <a:latin typeface="Times New Roman"/>
                <a:ea typeface="+mn-lt"/>
                <a:cs typeface="Times New Roman"/>
              </a:rPr>
              <a:t> trends,</a:t>
            </a:r>
            <a:endParaRPr lang="en-US" dirty="0">
              <a:latin typeface="Calibri"/>
              <a:ea typeface="+mn-lt"/>
              <a:cs typeface="Calibri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and payment preferences in a single interface. Through dynamic charts and KPIs, it  transforms </a:t>
            </a:r>
            <a:r>
              <a:rPr lang="en-US">
                <a:latin typeface="Times New Roman"/>
                <a:ea typeface="+mn-lt"/>
                <a:cs typeface="Times New Roman"/>
              </a:rPr>
              <a:t>raw</a:t>
            </a:r>
            <a:endParaRPr lang="en-US">
              <a:latin typeface="Calibri"/>
              <a:ea typeface="+mn-lt"/>
              <a:cs typeface="Calibri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transaction data into actionable insights, helping businesses identify growth opportunities, improve customer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engagement, and optimize overall sales performance.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Key Dashboard Components: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Total Revenue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Total Customers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Average Purchase Amount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Revenue by Gender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Category-wise Sales Analysis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Seasonal Purchase Trends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Subscription Status Analysis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Payment Method Preferences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Customer Rating Insights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Interactive Filters and Slicers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5550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281D5-356E-A120-E6F7-019A84DD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5DAEA08-1C65-FD09-4601-5B7B90004FA4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D5D0FBB-4F32-E401-F334-0518A645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795958" cy="10998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POWER BI DASHBOARD</a:t>
            </a:r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8" name="Content Placeholder 7" descr="A screenshot of a data analysis dashboard&#10;&#10;AI-generated content may be incorrect.">
            <a:extLst>
              <a:ext uri="{FF2B5EF4-FFF2-40B4-BE49-F238E27FC236}">
                <a16:creationId xmlns:a16="http://schemas.microsoft.com/office/drawing/2014/main" id="{6EA90A53-C0D6-577F-876A-6401489F8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995" y="1614293"/>
            <a:ext cx="16228442" cy="758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3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2F0134-6013-F3F4-84C5-E2428CAD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E54AA99-D30E-15FE-A7FA-1DE44FFA4098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ED364E1-B03D-705B-1598-0507BBA1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125" y="274638"/>
            <a:ext cx="10192109" cy="1099868"/>
          </a:xfrm>
        </p:spPr>
        <p:txBody>
          <a:bodyPr/>
          <a:lstStyle/>
          <a:p>
            <a:pPr algn="l"/>
            <a:r>
              <a:rPr lang="en-US">
                <a:latin typeface="Times New Roman"/>
                <a:ea typeface="Calibri"/>
                <a:cs typeface="Times New Roman"/>
              </a:rPr>
              <a:t>BUSINESSS INSIGHTS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ED210F8-7F5F-3A99-0CE4-5475B1A32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917" y="1492370"/>
            <a:ext cx="16230600" cy="795496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latin typeface="Times New Roman"/>
                <a:ea typeface="+mn-lt"/>
                <a:cs typeface="Times New Roman"/>
              </a:rPr>
              <a:t>Clothing emerged as the highest-performing product category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contributing significantly to overall revenue.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Male and female customers showed similar purchasing behavior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indicating balanced revenue contributions across genders.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Subscribers demonstrated higher purchase frequency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highlighting the effectiveness of subscription programs in customer retention.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Digital payment methods were the most preferred</a:t>
            </a:r>
            <a:r>
              <a:rPr lang="en-US">
                <a:latin typeface="Times New Roman"/>
                <a:ea typeface="+mn-lt"/>
                <a:cs typeface="Times New Roman"/>
              </a:rPr>
              <a:t>, reflecting customer preference for convenient and secure transactions.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Seasonal variations influenced customer purchases</a:t>
            </a:r>
            <a:r>
              <a:rPr lang="en-US">
                <a:latin typeface="Times New Roman"/>
                <a:ea typeface="+mn-lt"/>
                <a:cs typeface="Times New Roman"/>
              </a:rPr>
              <a:t>, with certain periods generating higher sales than others.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Customer review ratings remained consistently positive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indicating a satisfactory shopping experience.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Repeat customers contributed substantially to total sales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emphasizing the importance of customer loyalty.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Product categories and customer demographics directly impacted purchasing patterns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helping identify target customer segments.</a:t>
            </a:r>
            <a:endParaRPr lang="en-US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8124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3591D-E761-6C6C-16EF-0DFB1C20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2C6E37B-2577-E60A-8688-798B8ECF9DFB}"/>
              </a:ext>
            </a:extLst>
          </p:cNvPr>
          <p:cNvSpPr/>
          <p:nvPr/>
        </p:nvSpPr>
        <p:spPr>
          <a:xfrm>
            <a:off x="1028700" y="148980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861428E-AC74-E65C-D62C-7CED9A2F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4638"/>
            <a:ext cx="10192109" cy="1099868"/>
          </a:xfrm>
        </p:spPr>
        <p:txBody>
          <a:bodyPr/>
          <a:lstStyle/>
          <a:p>
            <a:pPr algn="l"/>
            <a:r>
              <a:rPr lang="en-US" b="1">
                <a:latin typeface="Times New Roman"/>
                <a:ea typeface="Calibri"/>
                <a:cs typeface="Times New Roman"/>
              </a:rPr>
              <a:t>CONCLUSION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275008-34E2-E5C7-A7DF-7964F87F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483" y="1600200"/>
            <a:ext cx="16209033" cy="7782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 The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Customer Shopping </a:t>
            </a:r>
            <a:r>
              <a:rPr lang="en-US" b="1" dirty="0" err="1">
                <a:latin typeface="Times New Roman"/>
                <a:ea typeface="+mn-lt"/>
                <a:cs typeface="Times New Roman"/>
              </a:rPr>
              <a:t>Behaviour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 Analysis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project successfully transformed raw customer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transaction data into meaningful business insights using </a:t>
            </a:r>
            <a:r>
              <a:rPr lang="en-US" b="1">
                <a:latin typeface="Times New Roman"/>
                <a:ea typeface="+mn-lt"/>
                <a:cs typeface="Times New Roman"/>
              </a:rPr>
              <a:t>Python, MySQL, and Power BI</a:t>
            </a:r>
            <a:r>
              <a:rPr lang="en-US">
                <a:latin typeface="Times New Roman"/>
                <a:ea typeface="+mn-lt"/>
                <a:cs typeface="Times New Roman"/>
              </a:rPr>
              <a:t>.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Through data cleaning, exploratory data analysis, SQL-based business transaction analysis, and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Interactive dashboard development, valuable patterns in customer purchasing behavior, spending</a:t>
            </a:r>
          </a:p>
          <a:p>
            <a:pPr>
              <a:buNone/>
            </a:pPr>
            <a:r>
              <a:rPr lang="en-US" dirty="0" err="1">
                <a:latin typeface="Times New Roman"/>
                <a:ea typeface="+mn-lt"/>
                <a:cs typeface="Times New Roman"/>
              </a:rPr>
              <a:t>habits,product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preferences, and seasonal trends were identified.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 The analysis revealed key factors influencing customer purchases, highlighted top-performing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product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categories, and</a:t>
            </a:r>
            <a:r>
              <a:rPr lang="en-US" dirty="0">
                <a:latin typeface="Times New Roman"/>
                <a:ea typeface="+mn-lt"/>
                <a:cs typeface="Times New Roman"/>
              </a:rPr>
              <a:t> demonstrated the importance of customer retention through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subscription</a:t>
            </a:r>
            <a:r>
              <a:rPr lang="en-US">
                <a:latin typeface="Times New Roman"/>
                <a:ea typeface="+mn-lt"/>
                <a:cs typeface="Times New Roman"/>
              </a:rPr>
              <a:t> programs and repeat purchases. The Power BI dashboard provided an effective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platform for visualizing these insights and supporting data-driven decision-making.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 Overall, this project demonstrates how data analytics can help businesses better understand</a:t>
            </a:r>
          </a:p>
          <a:p>
            <a:pPr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customer behavior, optimize marketing strategies, improve customer satisfaction, and drive</a:t>
            </a:r>
          </a:p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business growth through informed decision-making.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7055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06461" y="633764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H="1" flipV="1">
            <a:off x="0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t="-14295" r="-99999" b="-1429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2541980"/>
            <a:ext cx="753997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0"/>
              </a:lnSpc>
            </a:pPr>
            <a:r>
              <a:rPr lang="en-US" sz="12000" b="1" spc="-48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PROJECT OVERVIEW</vt:lpstr>
      <vt:lpstr>OBJECTIVES</vt:lpstr>
      <vt:lpstr>DATASET SUMMARY</vt:lpstr>
      <vt:lpstr>UNDERSTANDING THE DATASET</vt:lpstr>
      <vt:lpstr>UNDERSTANDING THE DATASET</vt:lpstr>
      <vt:lpstr>DATA CLEANING AND PROCESSING</vt:lpstr>
      <vt:lpstr>DATA CLEANING AND PROCESSING</vt:lpstr>
      <vt:lpstr>PowerPoint Presentation</vt:lpstr>
      <vt:lpstr>DATA  ANALYSIS USING MYSQL</vt:lpstr>
      <vt:lpstr>DATA ANALYSIS USING MYSQL</vt:lpstr>
      <vt:lpstr>DATA ANALYSIS USING MYSQL</vt:lpstr>
      <vt:lpstr>DATA ANALYSIS USING MYSQL</vt:lpstr>
      <vt:lpstr>POWER BI DASHBOARD</vt:lpstr>
      <vt:lpstr>POWER BI DASHBOARD</vt:lpstr>
      <vt:lpstr>BUSINESSS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524</cp:revision>
  <dcterms:created xsi:type="dcterms:W3CDTF">2006-08-16T00:00:00Z</dcterms:created>
  <dcterms:modified xsi:type="dcterms:W3CDTF">2026-06-12T16:11:46Z</dcterms:modified>
  <dc:identifier>DAHMPDrNXY8</dc:identifier>
</cp:coreProperties>
</file>